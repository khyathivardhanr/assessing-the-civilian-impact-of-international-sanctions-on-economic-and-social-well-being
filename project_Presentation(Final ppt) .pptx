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14B8A6"/>
                </a:solidFill>
              </a:rPr>
              <a:t>INTRODUCTION TO DATA SCIENCE  ·  UNIVERSITY OF FLORIDA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Do Sanctions Actually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Hurt Ordinary People?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8803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Assessing the Civilian Impact of International Sanctions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on Economic and Social Well-Being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Khyathi Vardhan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</a:rPr>
              <a:t>THE RESEARCH QUESTION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0" cy="2560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Sanctions get imposed on countries all the time. The usual debate is about whether they work politically.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We asked a different question: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i="1" dirty="0">
                <a:solidFill>
                  <a:srgbClr val="14B8A6"/>
                </a:solidFill>
              </a:rPr>
              <a:t>"Do ordinary people actually get hurt?"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852160" y="914400"/>
            <a:ext cx="2926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852160" y="914400"/>
            <a:ext cx="7315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9509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9509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Health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1261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Child mortality, healthcare access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1828800"/>
            <a:ext cx="2926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52160" y="1828800"/>
            <a:ext cx="7315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8653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18653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Education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21762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School enrollment, gender gaps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2743200"/>
            <a:ext cx="2926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52160" y="2743200"/>
            <a:ext cx="7315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277977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27797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Economy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Inflation, unemployment, trade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Coverage: 180+ countries  ·  1995 – 2024  ·  ~7,800 country-year observations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</a:rPr>
              <a:t>THE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Four datasets, one integrated panel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920240" cy="1280160"/>
          </a:xfrm>
          <a:prstGeom prst="rect">
            <a:avLst/>
          </a:prstGeom>
          <a:solidFill>
            <a:srgbClr val="24355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53619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7,820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38912" y="21214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Country-Year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Observations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463040"/>
            <a:ext cx="1920240" cy="1280160"/>
          </a:xfrm>
          <a:prstGeom prst="rect">
            <a:avLst/>
          </a:prstGeom>
          <a:solidFill>
            <a:srgbClr val="24355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87752" y="153619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180+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587752" y="21214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Countries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Covered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1920240" cy="1280160"/>
          </a:xfrm>
          <a:prstGeom prst="rect">
            <a:avLst/>
          </a:prstGeom>
          <a:solidFill>
            <a:srgbClr val="24355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36592" y="153619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30 yrs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36592" y="21214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Time Span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1995 – 2024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463040"/>
            <a:ext cx="1920240" cy="1280160"/>
          </a:xfrm>
          <a:prstGeom prst="rect">
            <a:avLst/>
          </a:prstGeom>
          <a:solidFill>
            <a:srgbClr val="24355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85432" y="1536192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885432" y="21214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Source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Datasets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926080"/>
          <a:ext cx="8412480" cy="192024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 Bank WDI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Welfare &amp; Economic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mortality, enrollment, GDP, poverty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Sanctions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Timing, type, duration, intensity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Comtrade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 Flows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Oil, pharma, fuel imports &amp; exports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UCDP / Polity 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 &amp; Political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 incidence, regime scores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</a:rPr>
              <a:t>HOW WE APPROACHED IT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1627632" cy="3200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024128"/>
            <a:ext cx="585216" cy="5852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0241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Acquire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14447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Pulled from 4 sources,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built SQLite database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74520" y="2331720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84248" y="914400"/>
            <a:ext cx="1627632" cy="3200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05456" y="1024128"/>
            <a:ext cx="585216" cy="5852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05456" y="10241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75688" y="178308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Wrangle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75688" y="2286000"/>
            <a:ext cx="14447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Cleaned, merged, engineered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30+ features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30168" y="2331720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39896" y="914400"/>
            <a:ext cx="1627632" cy="3200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61104" y="1024128"/>
            <a:ext cx="585216" cy="5852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61104" y="10241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31336" y="178308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31336" y="2286000"/>
            <a:ext cx="14447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LR → Random Forest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→ Gradient Boosting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85816" y="2331720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95544" y="914400"/>
            <a:ext cx="1627632" cy="3200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16752" y="1024128"/>
            <a:ext cx="585216" cy="5852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10241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86984" y="178308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Identify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86984" y="2286000"/>
            <a:ext cx="14447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Fixed-effects regression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+ event study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141464" y="2331720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51192" y="914400"/>
            <a:ext cx="1627632" cy="3200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0" y="1024128"/>
            <a:ext cx="585216" cy="5852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10241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342632" y="178308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42632" y="2286000"/>
            <a:ext cx="14447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Streamlit app,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6 interactive pages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Each stage fed directly into the next — from raw CSVs to a deployed, interactive tool.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</a:rPr>
              <a:t>WHAT WE MEASURED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389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3891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Primary Outcome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Under-5 Child Mortality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9385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Deaths per 1,000 live births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We chose this because it captures the effects of sanctions on food access, healthcare, and household poverty all at once. It also had the best data coverage — only 9.5% missing values across the dataset.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822960"/>
            <a:ext cx="36576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120640" y="822960"/>
            <a:ext cx="365760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822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Secondary Outcomes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57800" y="153619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4630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School Enrollment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77840" y="1737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Human capital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57800" y="215798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20848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Girls' Primary Enrollment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77840" y="23591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Gender equity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57800" y="277977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27066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Unemployment Rate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298094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Labor market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57800" y="340156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33284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Inflation Rate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3602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Price stability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These five outcomes together form a composite well-being index.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</a:rPr>
              <a:t>VARIABLES &amp; WHY WE CHOSE THEM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6400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D9488"/>
                </a:solidFill>
              </a:rPr>
              <a:t>DEPENDENT VARIABLE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04241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child_mortality_u5  —  Under-5 deaths per 1,000 live births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Captures food access, healthcare, sanitation, and poverty all in one measure. Best data coverage (9.5% missing). Directly sensitive to humanitarian shocks that sanctions create.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74520"/>
            <a:ext cx="64008" cy="1188720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901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3B5998"/>
                </a:solidFill>
              </a:rPr>
              <a:t>INDEPENDENT (TREATMENT) VARIABLES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1945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sanction_active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395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Binary — is the country under sanctions? (1 = yes)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60604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</a:rPr>
              <a:t>sanction_intensity_index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8072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Continuous 0–1 scale of how severe the sanctions are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1874520"/>
            <a:ext cx="4114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874520"/>
            <a:ext cx="64008" cy="13258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901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</a:rPr>
              <a:t>CONTROL VARIABLES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892040" y="2176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gdp_growth, inflation_rate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3591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Separate economic cycles from sanction effects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4505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conflict_incidence / intensity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63347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Distinguish war shocks from sanction shocks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2724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regime_score (Polity V)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9077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Political system affects both sanctions and welfare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92040" y="2999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</a:rPr>
              <a:t>unemployment, trade_exposure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18211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Labor market and trade openness context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200400"/>
            <a:ext cx="8503920" cy="1600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32644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4B8A6"/>
                </a:solidFill>
              </a:rPr>
              <a:t>HOW THE DATASETS CONNECT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35844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Sanctions (GSDB) → Trade (Comtrade)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37856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Sanctions restrict what a country can import/export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9160" y="35844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Trade flows → Welfare (WDI)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09160" y="37856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Less pharma &amp; food imports = worse health &amp; poverty outcomes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407822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Conflict (UCDP) → Welfare (WDI)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4279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War independently drives mortality — must be controlled for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09160" y="407822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B8A6"/>
                </a:solidFill>
              </a:rPr>
              <a:t>Regime (Polity V) → Sanctions (GSDB)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09160" y="427939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</a:rPr>
              <a:t>Authoritarian regimes are more likely to be sanctioned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</a:rPr>
              <a:t>THE MODELS WE BUILT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5603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56032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Baseline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3898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Linear Regression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2377440" cy="548640"/>
          </a:xfrm>
          <a:prstGeom prst="rect">
            <a:avLst/>
          </a:prstGeom>
          <a:solidFill>
            <a:srgbClr val="CCFBF1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299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Test R² = 0.42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Set the benchmark. Helped us catch data leakage early — first run was suspiciously perfect.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5603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22960"/>
            <a:ext cx="2560320" cy="457200"/>
          </a:xfrm>
          <a:prstGeom prst="rect">
            <a:avLst/>
          </a:prstGeom>
          <a:solidFill>
            <a:srgbClr val="3B5998"/>
          </a:solidFill>
          <a:ln w="12700">
            <a:solidFill>
              <a:srgbClr val="3B599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22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Candidate Model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13898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2029968"/>
            <a:ext cx="2377440" cy="548640"/>
          </a:xfrm>
          <a:prstGeom prst="rect">
            <a:avLst/>
          </a:prstGeom>
          <a:solidFill>
            <a:srgbClr val="CCFBF1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20299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Test R² = 0.58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26974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Handled non-linear patterns well. Used permutation importance to understand which features mattered.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822960"/>
            <a:ext cx="25603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822960"/>
            <a:ext cx="25603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822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Best Performer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13898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</a:rPr>
              <a:t>Gradient Boosting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2029968"/>
            <a:ext cx="2377440" cy="548640"/>
          </a:xfrm>
          <a:prstGeom prst="rect">
            <a:avLst/>
          </a:prstGeom>
          <a:solidFill>
            <a:srgbClr val="CCFBF1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0299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Test R² = 0.65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Val R² = 0.83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26974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Best generalization. Top predictors: female enrollment, poverty rate, school enrollment — not sanction status.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Temporal train / validation / test split — earlier years for training, later years for testing. Avoids leaking future data into the model.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</a:rPr>
              <a:t>WHAT THE RAW DATA SHOWS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384048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Sanctions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Lower child mortality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Higher school enrollment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More stable inflation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These countries look significantly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better across all five outcomes.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3840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22960"/>
            <a:ext cx="3840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822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Under Sanctions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4630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Higher child mortality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Lower school enrollment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More inflation volatility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697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9488"/>
                </a:solidFill>
              </a:rPr>
              <a:t>Looks bad — but is this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0D9488"/>
                </a:solidFill>
              </a:rPr>
              <a:t>because of sanctions?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2452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These countries were already poorer and more vulnerable before sanctions were ever imposed. That's the key issue — we can't just compare averages.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</a:rPr>
              <a:t>THE KEY FINDING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After controlling for each country's own history,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sanctions effect disappears.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We used fixed-effects panel regression — a within-country estimator that strips out everything that's permanently different between countries. It asks: when a country gets sanctioned, does its well-being change from its own baseline?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173736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 Estimate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mortality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+0.64 per 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 enrollment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Girls' enrollment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+0.52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−0.16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+3.37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55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212080" y="1691640"/>
            <a:ext cx="3566160" cy="1371600"/>
          </a:xfrm>
          <a:prstGeom prst="rect">
            <a:avLst/>
          </a:prstGeom>
          <a:solidFill>
            <a:srgbClr val="24355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349240" y="17830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</a:rPr>
              <a:t>The gap we saw earlier is real — but it reflects selection bias. Sanctioned countries were already worse off before sanctions began.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</a:rPr>
              <a:t>THE DEPLOYED APP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We built a 6-page interactive Streamlit dashboard — live at: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sanctions-civilian-wellbeing.streamlit.app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83080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562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Overview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4414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Research question,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 sources, methodology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78308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783080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8562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148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Data Explorer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24414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Filter 7,820 observations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interactively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78308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783080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8562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2148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Sanction Impact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24414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Compare outcomes across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sanction status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15468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154680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278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3520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Model Results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38130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LR vs. RF vs.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Gradient Boosting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15468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154680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2278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37560" y="3520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Advanced Analysis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37560" y="38130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Fixed-effects,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event study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35040" y="3154680"/>
            <a:ext cx="26060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3154680"/>
            <a:ext cx="64008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22783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72200" y="35204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</a:rPr>
              <a:t>Findings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72200" y="381304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Conclusions 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policy implications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</a:rPr>
              <a:t>WHAT IT MEANS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5943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story is more about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pre-existing vulnerability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than the sanctions themselves.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2514600"/>
            <a:ext cx="2651760" cy="2286000"/>
          </a:xfrm>
          <a:prstGeom prst="rect">
            <a:avLst/>
          </a:prstGeom>
          <a:solidFill>
            <a:srgbClr val="24355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251460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Selection Bias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127248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Countries that get sanctioned are already more vulnerable. Simple comparisons overstate the harm from sanctions.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2514600"/>
            <a:ext cx="2651760" cy="2286000"/>
          </a:xfrm>
          <a:prstGeom prst="rect">
            <a:avLst/>
          </a:prstGeom>
          <a:solidFill>
            <a:srgbClr val="24355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251460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Structural Poverty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3127248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The top ML predictors — female enrollment, poverty rate, school enrollment — precede sanctions and persist long after.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2514600"/>
            <a:ext cx="2651760" cy="2286000"/>
          </a:xfrm>
          <a:prstGeom prst="rect">
            <a:avLst/>
          </a:prstGeom>
          <a:solidFill>
            <a:srgbClr val="243552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2514600"/>
            <a:ext cx="2651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Policy Implication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3127248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Humanitarian programs should target structural vulnerability, not wait for sanctions to be lifted.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</a:rPr>
              <a:t>WHAT WE TOOK AWAY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6400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914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0352" y="1280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Leakage is sneaky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645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Our first model had near-perfect R². We almost accepted it. Diagnosing and removing leakage-prone features was one of the most important steps in the project.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6400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914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19472" y="1280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Descriptive ≠ Causal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64592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The raw numbers tell one story. Fixed-effects panel regression told a very different one. Identifying causation requires more than a comparison of means.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16352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16352"/>
            <a:ext cx="6400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9077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0352" y="3273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Data integration is hard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363931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Merging four sources across 30 years required careful alignment of country codes, missing value handling, and feature engineering decisions we documented in 13 diary entries.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816352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16352"/>
            <a:ext cx="64008" cy="1828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9077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19472" y="3273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</a:rPr>
              <a:t>End-to-end matters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363931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Building all the way to a deployed app forced us to make every piece of the pipeline clean and reproducible — not just the modeling notebook.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Thank You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The full project — code, notebooks, data documentation, and 13 diary entries — is on GitHub.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926080"/>
            <a:ext cx="6400800" cy="594360"/>
          </a:xfrm>
          <a:prstGeom prst="rect">
            <a:avLst/>
          </a:prstGeom>
          <a:solidFill>
            <a:srgbClr val="24355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92608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</a:rPr>
              <a:t>Live App:  sanctions-civilian-wellbeing.streamlit.app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6817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Khyathi Vardhan  ·  Introduction to Data Science  ·  University of Florida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Sanctions &amp; Civilian Well-Being</dc:title>
  <dc:subject>PptxGenJS Presentation</dc:subject>
  <dc:creator>PptxGenJS</dc:creator>
  <cp:lastModifiedBy>PptxGenJS</cp:lastModifiedBy>
  <cp:revision>1</cp:revision>
  <dcterms:created xsi:type="dcterms:W3CDTF">2026-04-19T22:30:44Z</dcterms:created>
  <dcterms:modified xsi:type="dcterms:W3CDTF">2026-04-19T22:30:44Z</dcterms:modified>
</cp:coreProperties>
</file>